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Source Sans 3" panose="020B0604020202020204" charset="0"/>
      <p:regular r:id="rId19"/>
    </p:embeddedFont>
    <p:embeddedFont>
      <p:font typeface="Source Sans 3 Bold" panose="020B0604020202020204" charset="0"/>
      <p:regular r:id="rId20"/>
    </p:embeddedFont>
    <p:embeddedFont>
      <p:font typeface="Source Serif 4 Semi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77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4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10" Type="http://schemas.openxmlformats.org/officeDocument/2006/relationships/image" Target="../media/image4.png"/><Relationship Id="rId4" Type="http://schemas.openxmlformats.org/officeDocument/2006/relationships/image" Target="../media/image23.jpe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1111448"/>
            <a:ext cx="4381390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4" name="Text 1"/>
          <p:cNvSpPr/>
          <p:nvPr/>
        </p:nvSpPr>
        <p:spPr>
          <a:xfrm>
            <a:off x="5389626" y="1171277"/>
            <a:ext cx="4751666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IES PÚBLICO CAP. FAP JOSÉ ABELARDO QUIÑONES · TUMBES 2026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69971" y="149433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TUMBESGO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5269971" y="2380159"/>
            <a:ext cx="6223638" cy="242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kern="0" spc="-102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Aplicación para la Gestión de Delivery Local</a:t>
            </a:r>
            <a:endParaRPr lang="en-US" sz="5100" dirty="0"/>
          </a:p>
        </p:txBody>
      </p:sp>
      <p:sp>
        <p:nvSpPr>
          <p:cNvPr id="7" name="Text 4"/>
          <p:cNvSpPr/>
          <p:nvPr/>
        </p:nvSpPr>
        <p:spPr>
          <a:xfrm>
            <a:off x="5269971" y="5108178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Propuesta de Desarrollo de Software </a:t>
            </a:r>
            <a:b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</a:b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Metodología de Desarrollo de Software</a:t>
            </a:r>
            <a:endParaRPr lang="en-US" sz="155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FA755A4-6245-CE38-6E42-E48D242F0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5946" y="6429315"/>
            <a:ext cx="1286054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18133"/>
            <a:ext cx="1159640" cy="260449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874" y="669528"/>
            <a:ext cx="1563648" cy="15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I. INTRODUCCIÓN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98086" y="937419"/>
            <a:ext cx="10795524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kern="0" spc="-6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¿Qué es TUMBESGO?</a:t>
            </a:r>
            <a:endParaRPr lang="en-US" sz="3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004417"/>
            <a:ext cx="6870727" cy="38934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93259" y="1809750"/>
            <a:ext cx="3506601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Propósito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93259" y="2209105"/>
            <a:ext cx="3506601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Sistema básico de pedidos y delivery local que gestiona usuarios, productos, pedidos y entregas, aplicando conceptos fundamentales de desarrollo de software.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93259" y="3376315"/>
            <a:ext cx="3506601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Alcance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93259" y="3775670"/>
            <a:ext cx="3506601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Registro de usuarios, visualización de productos, realización de pedidos y consulta de estado. El administrador gestiona productos y pedidos; el repartidor actualiza entregas.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93259" y="4942880"/>
            <a:ext cx="3506601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Justificación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93259" y="5342235"/>
            <a:ext cx="3506601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Proyecto académico que aplica </a:t>
            </a:r>
            <a:r>
              <a:rPr lang="en-US" sz="130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POO</a:t>
            </a: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un enfoque ágil con </a:t>
            </a:r>
            <a:r>
              <a:rPr lang="en-US" sz="130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Scrum</a:t>
            </a: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</a:t>
            </a:r>
            <a:r>
              <a:rPr lang="en-US" sz="130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Kanban</a:t>
            </a: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construir un sistema organizado y funcional.</a:t>
            </a:r>
            <a:endParaRPr lang="en-US" sz="13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DAA0DD7-0A6C-21A7-F5FD-8AF1B140A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5946" y="6429315"/>
            <a:ext cx="1286054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0061" y="438639"/>
            <a:ext cx="2177022" cy="171351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685" y="484298"/>
            <a:ext cx="1661773" cy="91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kern="0" spc="-16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II. VISTA GENERAL DEL PROYECTO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0061" y="609991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3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Problema y Objetivos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84" y="1063030"/>
            <a:ext cx="5749579" cy="57497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3837" y="914995"/>
            <a:ext cx="5027878" cy="1075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8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23837" y="1111447"/>
            <a:ext cx="5027878" cy="92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Desarrollar TUMBESGO aplicando POO y desarrollo ágil </a:t>
            </a:r>
            <a:r>
              <a:rPr lang="en-US" sz="1400" kern="0" spc="-16" dirty="0" err="1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mediante</a:t>
            </a:r>
            <a:r>
              <a:rPr lang="en-US" sz="14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Scrum y Kanban.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793" y="1753704"/>
            <a:ext cx="5027876" cy="1075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8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23838" y="2009275"/>
            <a:ext cx="5551850" cy="2905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6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Gestionar usuarios, productos y pedidos</a:t>
            </a:r>
            <a:endParaRPr lang="en-US" sz="160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6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Implementar registro y gestión de pedidos</a:t>
            </a:r>
            <a:endParaRPr lang="en-US" sz="160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6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Permitir al repartidor actualizar estados de entrega</a:t>
            </a:r>
            <a:endParaRPr lang="en-US" sz="160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16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Aplicar principios de POO y organizar el proyecto en Sprints y tableros Kanban</a:t>
            </a:r>
            <a:endParaRPr lang="en-US" sz="16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AD0E30A-418C-47D6-8A94-B59DE905B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5946" y="6429315"/>
            <a:ext cx="1286054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389162"/>
            <a:ext cx="1901381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7740" y="1448991"/>
            <a:ext cx="2271656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kern="0" spc="-31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II. USUARIOS DEL SISTEMA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77204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Tres Tipos de Usuario</a:t>
            </a:r>
            <a:endParaRPr lang="en-US" sz="3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657872"/>
            <a:ext cx="1510171" cy="15102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441741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Cliente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8086" y="4830366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Visualiza productos, selecciona items, realiza pedidos y consulta su estado.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704" y="2657872"/>
            <a:ext cx="1510171" cy="15102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79704" y="441741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Administrador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4379704" y="4830366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Gestiona productos, supervisa pedidos y asigna repartidores.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322" y="2657872"/>
            <a:ext cx="1510171" cy="15102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1322" y="441741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-3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Repartidor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8061322" y="4830366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Consulta pedidos asignados y actualiza el estado de las entregas.</a:t>
            </a:r>
            <a:endParaRPr lang="en-US" sz="155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3D2A50E-E708-3F6B-E277-70B925D1AA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5946" y="6429315"/>
            <a:ext cx="1286054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86482"/>
            <a:ext cx="1658995" cy="260449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0874" y="637877"/>
            <a:ext cx="2063004" cy="15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III. ENFOQUE Y PARADIGMA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98086" y="905768"/>
            <a:ext cx="10795524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kern="0" spc="-6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POO + Metodología Ágil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98086" y="1778099"/>
            <a:ext cx="5188713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Programación Orientada a Objetos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8086" y="2177455"/>
            <a:ext cx="5188713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sistema se organiza mediante clases y objetos: </a:t>
            </a:r>
            <a:r>
              <a:rPr lang="en-US" sz="130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Usuario, Cliente, Administrador, Repartidor, Producto, Pedido, DetallePedido</a:t>
            </a: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</a:t>
            </a:r>
            <a:r>
              <a:rPr lang="en-US" sz="130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Entrega</a:t>
            </a: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Se aplican los principios de </a:t>
            </a:r>
            <a:r>
              <a:rPr lang="en-US" sz="130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abstracción, encapsulamiento, herencia y polimorfismo</a:t>
            </a: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estructurar y mantener el código.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11246" y="1778099"/>
            <a:ext cx="5188713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¿Por qué Ágil vs. Tradicional?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4897" y="2152750"/>
            <a:ext cx="5188713" cy="12901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77840" y="2386310"/>
            <a:ext cx="4731723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Entrega continua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577840" y="2785666"/>
            <a:ext cx="4731723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Funcionalidades al final de cada Sprint (2 semanas), no solo al final del proyecto.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1246" y="3633291"/>
            <a:ext cx="5188713" cy="12901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77840" y="3823692"/>
            <a:ext cx="4731723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Gestión del cambio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77840" y="4223048"/>
            <a:ext cx="4731723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cambio se integra como mejora, sin penalizaciones de costo ni retrasos.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1246" y="5070673"/>
            <a:ext cx="5188713" cy="10351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77840" y="5261074"/>
            <a:ext cx="4731723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Riesgo bajo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577840" y="5660430"/>
            <a:ext cx="473172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Desviaciones detectadas y corregidas en etapas tempranas.</a:t>
            </a:r>
            <a:endParaRPr lang="en-US" sz="13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63B6DB3-6120-3F42-0641-B4001BC05A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5946" y="6429315"/>
            <a:ext cx="1286054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96801"/>
            <a:ext cx="1602640" cy="288727"/>
          </a:xfrm>
          <a:prstGeom prst="roundRect">
            <a:avLst>
              <a:gd name="adj" fmla="val 22126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085" y="653752"/>
            <a:ext cx="1984226" cy="174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III. POO EN TUMBESGO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8086" y="957957"/>
            <a:ext cx="10795524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kern="0" spc="-7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Aplicación de los 4 Pilares de POO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98086" y="1788914"/>
            <a:ext cx="5307177" cy="2151856"/>
          </a:xfrm>
          <a:prstGeom prst="roundRect">
            <a:avLst>
              <a:gd name="adj" fmla="val 3711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534" y="1985367"/>
            <a:ext cx="570295" cy="570309"/>
          </a:xfrm>
          <a:prstGeom prst="ellipse">
            <a:avLst/>
          </a:prstGeom>
          <a:solidFill>
            <a:srgbClr val="BE49D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296" y="2142133"/>
            <a:ext cx="256672" cy="25667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4534" y="2736850"/>
            <a:ext cx="4914281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Abstracción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94534" y="3124994"/>
            <a:ext cx="4914281" cy="619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clase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</a:t>
            </a: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contiene solo nombre, precio y stock con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actualizarStock()</a:t>
            </a: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86432" y="1788914"/>
            <a:ext cx="5307177" cy="2151856"/>
          </a:xfrm>
          <a:prstGeom prst="roundRect">
            <a:avLst>
              <a:gd name="adj" fmla="val 3711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82880" y="1985367"/>
            <a:ext cx="570295" cy="570309"/>
          </a:xfrm>
          <a:prstGeom prst="ellipse">
            <a:avLst/>
          </a:prstGeom>
          <a:solidFill>
            <a:srgbClr val="BE49D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9642" y="2142133"/>
            <a:ext cx="256672" cy="25667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82880" y="2736850"/>
            <a:ext cx="4914281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Encapsulamiento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6382880" y="3124994"/>
            <a:ext cx="4914281" cy="619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precio es atributo privado; se accede mediante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getPrecio()</a:t>
            </a: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setPrecio()</a:t>
            </a: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98086" y="4121944"/>
            <a:ext cx="5307177" cy="2139156"/>
          </a:xfrm>
          <a:prstGeom prst="roundRect">
            <a:avLst>
              <a:gd name="adj" fmla="val 3733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94534" y="4318397"/>
            <a:ext cx="570295" cy="570309"/>
          </a:xfrm>
          <a:prstGeom prst="ellipse">
            <a:avLst/>
          </a:prstGeom>
          <a:solidFill>
            <a:srgbClr val="BE49D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296" y="4475163"/>
            <a:ext cx="256672" cy="25667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4534" y="5069880"/>
            <a:ext cx="4914281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Herencia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894534" y="5458023"/>
            <a:ext cx="4914281" cy="606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Administrador</a:t>
            </a: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Repartidor</a:t>
            </a: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heredan de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reutilizando atributos comunes.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186432" y="4121944"/>
            <a:ext cx="5307177" cy="2139156"/>
          </a:xfrm>
          <a:prstGeom prst="roundRect">
            <a:avLst>
              <a:gd name="adj" fmla="val 3733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82880" y="4318397"/>
            <a:ext cx="570295" cy="570309"/>
          </a:xfrm>
          <a:prstGeom prst="ellipse">
            <a:avLst/>
          </a:prstGeom>
          <a:solidFill>
            <a:srgbClr val="BE49D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39642" y="4475163"/>
            <a:ext cx="256672" cy="25667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82880" y="5069880"/>
            <a:ext cx="4914281" cy="279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Polimorfismo</a:t>
            </a:r>
            <a:endParaRPr lang="en-US" sz="1750" dirty="0"/>
          </a:p>
        </p:txBody>
      </p:sp>
      <p:sp>
        <p:nvSpPr>
          <p:cNvPr id="24" name="Text 18"/>
          <p:cNvSpPr/>
          <p:nvPr/>
        </p:nvSpPr>
        <p:spPr>
          <a:xfrm>
            <a:off x="6382880" y="5458023"/>
            <a:ext cx="4914281" cy="606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mostrar_Menu()</a:t>
            </a:r>
            <a:r>
              <a:rPr lang="en-US" sz="1450" kern="0" spc="-3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presenta comportamientos distintos según el tipo de usuario.</a:t>
            </a:r>
            <a:endParaRPr lang="en-US" sz="145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597694E-525D-4608-DA8C-34CCCD733E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05946" y="6429315"/>
            <a:ext cx="1286054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40655"/>
            <a:ext cx="784900" cy="170458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5354" y="674291"/>
            <a:ext cx="1259947" cy="103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kern="0" spc="-18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IV. PLANIFICACIÓN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98086" y="836315"/>
            <a:ext cx="10795524" cy="330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kern="0" spc="-42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Equipo, Roles y Sprints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698086" y="1324074"/>
            <a:ext cx="5260943" cy="16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Roles del Equipo Scrum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110729"/>
              </p:ext>
            </p:extLst>
          </p:nvPr>
        </p:nvGraphicFramePr>
        <p:xfrm>
          <a:off x="698086" y="1560015"/>
          <a:ext cx="4328507" cy="1689993"/>
        </p:xfrm>
        <a:graphic>
          <a:graphicData uri="http://schemas.openxmlformats.org/drawingml/2006/table">
            <a:tbl>
              <a:tblPr/>
              <a:tblGrid>
                <a:gridCol w="1731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7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18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Product Owner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12207" marR="11220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18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Josué Chinguel — Prioridades del sistema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12207" marR="11220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18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Scrum Master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12207" marR="11220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18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Rafael Callirgos — Organización del trabajo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12207" marR="11220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18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Desarrollo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12207" marR="11220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18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Ernesto Ancajima y Franklin Peña — Análisis, diseño y pruebas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12207" marR="112207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31867" y="2180661"/>
            <a:ext cx="5260943" cy="70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5"/>
          <p:cNvSpPr/>
          <p:nvPr/>
        </p:nvSpPr>
        <p:spPr>
          <a:xfrm>
            <a:off x="231867" y="2683932"/>
            <a:ext cx="5260943" cy="701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239017" y="1324074"/>
            <a:ext cx="5260943" cy="16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6 Sprints de 2 semanas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39017" y="1560016"/>
            <a:ext cx="22432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8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39017" y="1737916"/>
            <a:ext cx="5260943" cy="127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2" name="Text 9"/>
          <p:cNvSpPr/>
          <p:nvPr/>
        </p:nvSpPr>
        <p:spPr>
          <a:xfrm>
            <a:off x="6239017" y="1819374"/>
            <a:ext cx="5260943" cy="16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Sprint 1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239017" y="2047478"/>
            <a:ext cx="5260943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1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Usuarios y productos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39017" y="2334915"/>
            <a:ext cx="22432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8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39017" y="2512814"/>
            <a:ext cx="5260943" cy="127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6" name="Text 13"/>
          <p:cNvSpPr/>
          <p:nvPr/>
        </p:nvSpPr>
        <p:spPr>
          <a:xfrm>
            <a:off x="6232667" y="2622996"/>
            <a:ext cx="5260943" cy="16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Sprint 2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39017" y="2822377"/>
            <a:ext cx="5260943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1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Carrito y pedidos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39017" y="3109813"/>
            <a:ext cx="22432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8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239017" y="3287713"/>
            <a:ext cx="5260943" cy="127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0" name="Text 17"/>
          <p:cNvSpPr/>
          <p:nvPr/>
        </p:nvSpPr>
        <p:spPr>
          <a:xfrm>
            <a:off x="6239017" y="3369171"/>
            <a:ext cx="5260943" cy="16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Sprint 3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239017" y="3597275"/>
            <a:ext cx="5260943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1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Gestión de pedidos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39017" y="3884712"/>
            <a:ext cx="22432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8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39017" y="4062611"/>
            <a:ext cx="5260943" cy="127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4" name="Text 21"/>
          <p:cNvSpPr/>
          <p:nvPr/>
        </p:nvSpPr>
        <p:spPr>
          <a:xfrm>
            <a:off x="6239017" y="4144070"/>
            <a:ext cx="5260943" cy="16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Sprint 4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239017" y="4372173"/>
            <a:ext cx="5260943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1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Asignación de entregas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239017" y="4659610"/>
            <a:ext cx="22432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8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39017" y="4837509"/>
            <a:ext cx="5260943" cy="127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8" name="Text 25"/>
          <p:cNvSpPr/>
          <p:nvPr/>
        </p:nvSpPr>
        <p:spPr>
          <a:xfrm>
            <a:off x="6239017" y="4918968"/>
            <a:ext cx="5260943" cy="16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Sprint 5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239017" y="5147072"/>
            <a:ext cx="5260943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1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Estados y ajustes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239017" y="5434509"/>
            <a:ext cx="22432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8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239017" y="5612408"/>
            <a:ext cx="5260943" cy="127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32" name="Text 29"/>
          <p:cNvSpPr/>
          <p:nvPr/>
        </p:nvSpPr>
        <p:spPr>
          <a:xfrm>
            <a:off x="6239017" y="5693866"/>
            <a:ext cx="5260943" cy="165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2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Sprint 6</a:t>
            </a: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239017" y="5921970"/>
            <a:ext cx="5260943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1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Pruebas e integración final</a:t>
            </a:r>
            <a:endParaRPr lang="en-US" sz="14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D4658C43-7B20-8E1E-8145-BA1FEEAE7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5946" y="6429315"/>
            <a:ext cx="1286054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76461"/>
            <a:ext cx="961505" cy="222448"/>
          </a:xfrm>
          <a:prstGeom prst="roundRect">
            <a:avLst>
              <a:gd name="adj" fmla="val 22127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5892" y="620316"/>
            <a:ext cx="1395477" cy="134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3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IV. SEGUIMIENTO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8086" y="841871"/>
            <a:ext cx="10795524" cy="430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kern="0" spc="-54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Tableros Kanban por Sprint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98086" y="1434009"/>
            <a:ext cx="11405108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Cada Sprint se gestiona con un tablero Kanban en cuatro columnas: </a:t>
            </a:r>
            <a:r>
              <a:rPr lang="en-US" sz="1150" b="1" kern="0" spc="-23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Pendiente → En proceso → En revisión → Finalizado</a:t>
            </a: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758057"/>
            <a:ext cx="1506797" cy="9312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8086" y="2823766"/>
            <a:ext cx="259797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Sprint 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8086" y="3103662"/>
            <a:ext cx="2597978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Registro completado; inicio de sesión en revisión.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502" y="1758057"/>
            <a:ext cx="1506797" cy="9312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30502" y="2823766"/>
            <a:ext cx="259807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Sprint 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30502" y="3103662"/>
            <a:ext cx="2598077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Carrito en revisión; pedido en proceso.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17" y="1758057"/>
            <a:ext cx="1506797" cy="9312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63017" y="2823766"/>
            <a:ext cx="259807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Sprint 3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63017" y="3103662"/>
            <a:ext cx="2598077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Consulta de estado en revisión; gestión de pedidos en desarrollo.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5532" y="1758057"/>
            <a:ext cx="1506797" cy="93126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95532" y="2823766"/>
            <a:ext cx="259807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Sprint 4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895532" y="3103662"/>
            <a:ext cx="2598077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Asignación de pedidos en revisión; consulta del repartidor en proceso.</a:t>
            </a:r>
            <a:endParaRPr lang="en-US" sz="11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086" y="3724970"/>
            <a:ext cx="1506797" cy="93126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8086" y="4790678"/>
            <a:ext cx="259797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Sprint 5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98086" y="5070574"/>
            <a:ext cx="2597978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Actualización de estado en revisión; correcciones en proceso; integración pendiente.</a:t>
            </a:r>
            <a:endParaRPr lang="en-US" sz="11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0502" y="3724970"/>
            <a:ext cx="1506797" cy="93126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430502" y="4790678"/>
            <a:ext cx="2598077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Sprint 6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3430502" y="5070574"/>
            <a:ext cx="2598077" cy="60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Pruebas funcionales completadas; integración en revisión; correcciones en proceso.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98086" y="5800824"/>
            <a:ext cx="10795524" cy="480616"/>
          </a:xfrm>
          <a:prstGeom prst="roundRect">
            <a:avLst>
              <a:gd name="adj" fmla="val 12802"/>
            </a:avLst>
          </a:prstGeom>
          <a:solidFill>
            <a:srgbClr val="B6FCB8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529" y="5950148"/>
            <a:ext cx="183054" cy="14644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174026" y="5944989"/>
            <a:ext cx="10782725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kern="0" spc="-23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 finalizar los 6 Sprints, todas las actividades planificadas se encuentran en </a:t>
            </a:r>
            <a:r>
              <a:rPr lang="en-US" sz="1150" b="1" kern="0" spc="-23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Finalizado</a:t>
            </a:r>
            <a:r>
              <a:rPr lang="en-US" sz="1150" kern="0" spc="-23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con TUMBESGO funcional y listo para entrega.</a:t>
            </a:r>
            <a:endParaRPr lang="en-US" sz="115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7E7B8CC4-4245-9B86-4FBD-FE16FA16A1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05946" y="6433072"/>
            <a:ext cx="1286054" cy="428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618</Words>
  <Application>Microsoft Office PowerPoint</Application>
  <PresentationFormat>Panorámica</PresentationFormat>
  <Paragraphs>103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Source Sans 3</vt:lpstr>
      <vt:lpstr>Calibri</vt:lpstr>
      <vt:lpstr>Arial</vt:lpstr>
      <vt:lpstr>Source Serif 4 Light</vt:lpstr>
      <vt:lpstr>Source Serif 4 SemiBold</vt:lpstr>
      <vt:lpstr>Source Sans 3 Bold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JOSUE DAVID CHINGUEL</cp:lastModifiedBy>
  <cp:revision>2</cp:revision>
  <dcterms:created xsi:type="dcterms:W3CDTF">2026-09-09T15:59:57Z</dcterms:created>
  <dcterms:modified xsi:type="dcterms:W3CDTF">2026-09-09T16:08:34Z</dcterms:modified>
</cp:coreProperties>
</file>