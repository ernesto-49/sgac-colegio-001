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Open Sans" panose="020B0606030504020204" pitchFamily="34" charset="0"/>
      <p:regular r:id="rId13"/>
      <p:bold r:id="rId14"/>
    </p:embeddedFont>
    <p:embeddedFont>
      <p:font typeface="Open Sans Bold" panose="020B0806030504020204" charset="0"/>
      <p:regular r:id="rId15"/>
    </p:embeddedFont>
    <p:embeddedFont>
      <p:font typeface="Playfair Display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56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931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Sistema de Gestión Académica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8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ejecución del proyecto para el </a:t>
            </a:r>
            <a:r>
              <a:rPr lang="en-US" sz="14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Colegio 001 Jose Lishner Tudela</a:t>
            </a: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desarrollado bajo metodología Scrum para centralizar y facilitar la gestión académica institucional.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577755"/>
            <a:ext cx="1875287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634409"/>
            <a:ext cx="22580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METODOLOGÍA SCRUM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203101" y="4577755"/>
            <a:ext cx="154370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010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6505" y="4634409"/>
            <a:ext cx="192648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COLEGIO PÚBLICO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841261" y="4577755"/>
            <a:ext cx="941562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0101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54665" y="4634409"/>
            <a:ext cx="13243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SPRINTS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418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Levantamiento de necesidades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7450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Entrevistas de Campo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6191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identificaron las principales necesidades de tres actores clave del colegio.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34221"/>
            <a:ext cx="3496877" cy="23495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34863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Director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757315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Centralizar la información académica y facilitar el seguimiento de asistencia, evaluaciones y reportes para la toma de decisiones.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3134221"/>
            <a:ext cx="3496877" cy="23495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334863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Secretaria Académica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757315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datos de estudiantes y apoderados, controlar matrícula, gestionar notas bimestrales y generar libretas de forma ordenada.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3134221"/>
            <a:ext cx="3496877" cy="23495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334863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Docente Tutor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757315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asistencia diaria, consultar el avance académico y recibir alertas cuando un estudiante supere el 30% de inasistencias injustificadas.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Fase 1 — Inicio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1475" y="77112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Visión del Producto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1868"/>
            <a:ext cx="6948611" cy="39375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47818" y="3047206"/>
            <a:ext cx="3588652" cy="746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Desarrollar un sistema que </a:t>
            </a: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centralice y facilite la gestión académica</a:t>
            </a: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Colegio 001 Jose Lishner Tudela, administrando usuarios, matrícula, evaluaciones, asistencia y reportes.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61475" y="5609134"/>
            <a:ext cx="5385558" cy="729258"/>
          </a:xfrm>
          <a:prstGeom prst="roundRect">
            <a:avLst>
              <a:gd name="adj" fmla="val 2794"/>
            </a:avLst>
          </a:prstGeom>
          <a:solidFill>
            <a:srgbClr val="E0E0EC"/>
          </a:solidFill>
          <a:ln/>
        </p:spPr>
      </p:sp>
      <p:sp>
        <p:nvSpPr>
          <p:cNvPr id="7" name="Text 4"/>
          <p:cNvSpPr/>
          <p:nvPr/>
        </p:nvSpPr>
        <p:spPr>
          <a:xfrm>
            <a:off x="797302" y="5744964"/>
            <a:ext cx="511390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Cliente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7302" y="6015831"/>
            <a:ext cx="511390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Dirección, Secretaría, docentes y apoderados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44662" y="5609134"/>
            <a:ext cx="5385558" cy="729258"/>
          </a:xfrm>
          <a:prstGeom prst="roundRect">
            <a:avLst>
              <a:gd name="adj" fmla="val 2794"/>
            </a:avLst>
          </a:prstGeom>
          <a:solidFill>
            <a:srgbClr val="E0E0EC"/>
          </a:solidFill>
          <a:ln/>
        </p:spPr>
      </p:sp>
      <p:sp>
        <p:nvSpPr>
          <p:cNvPr id="10" name="Text 7"/>
          <p:cNvSpPr/>
          <p:nvPr/>
        </p:nvSpPr>
        <p:spPr>
          <a:xfrm>
            <a:off x="6280489" y="5744964"/>
            <a:ext cx="511390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Diferenciador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80489" y="6015831"/>
            <a:ext cx="511390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 CNEB (AD, A, B, C) y alerta por inasistencias &gt;30%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8665"/>
            <a:ext cx="108687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Fase 1 — Product Backlog Inicial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61475" y="925016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Historias de Usuario Priorizadas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10432"/>
          <a:ext cx="10868745" cy="4097531"/>
        </p:xfrm>
        <a:graphic>
          <a:graphicData uri="http://schemas.openxmlformats.org/drawingml/2006/table">
            <a:tbl>
              <a:tblPr/>
              <a:tblGrid>
                <a:gridCol w="108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Épica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Historia de Usuario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Prioridad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HU-01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Gestión de Usuarios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Registrar usuarios para controlar el acceso al sistema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HU-02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Gestión de Usuarios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Iniciar sesión para acceder a funciones según el rol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HU-04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Matrícula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Registrar matrícula de estudiantes con grado y sección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HU-06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Evaluaciones CNEB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Registrar evaluaciones bimestrales con escala AD, A, B, C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HU-08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Asistencia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Registrar asistencia diaria por estudiante y fecha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HU-09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Asistencia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Alerta automática al superar 30% de inasistencias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HU-10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Reportes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Generar libretas de notas bimestrales por estudiante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Alta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61475" y="6001445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backlog completo incluye 12 historias de usuario. Las de prioridad media cubren consultas y reportes institucionales.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0691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Fase 2 — Organización del Equipo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1475" y="83700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Roles del Equipo Scrum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46696"/>
            <a:ext cx="1531602" cy="1531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980035"/>
            <a:ext cx="264083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Product Owner-Director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475" y="3222625"/>
            <a:ext cx="2640839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Representante del colegio. Define la visión del producto y prioriza el Product Backlog según las necesidades institucionales.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011" y="1346696"/>
            <a:ext cx="1531701" cy="15317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04011" y="2980134"/>
            <a:ext cx="264093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Scrum Master-Ernesto </a:t>
            </a:r>
            <a:r>
              <a:rPr lang="en-US" sz="120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Ancajima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04011" y="3222724"/>
            <a:ext cx="2640939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 los eventos Scrum, coordina al equipo y elimina bloqueos e impedimentos durante el desarrollo.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646" y="1346696"/>
            <a:ext cx="1531701" cy="15317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46646" y="2980134"/>
            <a:ext cx="264093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Diseñador UX/UI-Josue </a:t>
            </a:r>
            <a:r>
              <a:rPr lang="en-US" sz="120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Chinguel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146646" y="3222724"/>
            <a:ext cx="2640939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Diseña las interfaces para usuarios, docentes, secretaría, dirección y apoderados.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282" y="1346696"/>
            <a:ext cx="1531701" cy="15317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89282" y="2980134"/>
            <a:ext cx="264093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Programador</a:t>
            </a: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Full-Stack -</a:t>
            </a:r>
            <a:r>
              <a:rPr lang="en-US" sz="120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Cachiro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889282" y="3222724"/>
            <a:ext cx="2640939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Desarrolla la interfaz, lógica del sistema, base de datos e integración de módulos.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5712" y="3979566"/>
            <a:ext cx="1531602" cy="1531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35712" y="5612905"/>
            <a:ext cx="264083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Tester / QA-Piero </a:t>
            </a:r>
            <a:r>
              <a:rPr lang="en-US" sz="120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calderon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935712" y="5855495"/>
            <a:ext cx="2640839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 pruebas funcionales y de integración, verificando que cada funcionalidad cumpla los criterios de aceptación.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8268"/>
            <a:ext cx="1086874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Fase 4 — Ejecución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61475" y="845840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Plan de Sprints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61475" y="1432520"/>
            <a:ext cx="1147833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Cinco sprints de dos semanas cada uno para entregar el sistema completo.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86323" y="1739702"/>
            <a:ext cx="19050" cy="3959920"/>
          </a:xfrm>
          <a:prstGeom prst="roundRect">
            <a:avLst>
              <a:gd name="adj" fmla="val 49999"/>
            </a:avLst>
          </a:prstGeom>
          <a:solidFill>
            <a:srgbClr val="C6C6D2"/>
          </a:solidFill>
          <a:ln/>
        </p:spPr>
      </p:sp>
      <p:sp>
        <p:nvSpPr>
          <p:cNvPr id="6" name="Shape 4"/>
          <p:cNvSpPr/>
          <p:nvPr/>
        </p:nvSpPr>
        <p:spPr>
          <a:xfrm>
            <a:off x="5542370" y="1886248"/>
            <a:ext cx="416411" cy="19050"/>
          </a:xfrm>
          <a:prstGeom prst="roundRect">
            <a:avLst>
              <a:gd name="adj" fmla="val 49999"/>
            </a:avLst>
          </a:prstGeom>
          <a:solidFill>
            <a:srgbClr val="C6C6D2"/>
          </a:solidFill>
          <a:ln/>
        </p:spPr>
      </p:sp>
      <p:sp>
        <p:nvSpPr>
          <p:cNvPr id="7" name="Shape 5"/>
          <p:cNvSpPr/>
          <p:nvPr/>
        </p:nvSpPr>
        <p:spPr>
          <a:xfrm>
            <a:off x="5939731" y="1739702"/>
            <a:ext cx="312234" cy="312241"/>
          </a:xfrm>
          <a:prstGeom prst="roundRect">
            <a:avLst>
              <a:gd name="adj" fmla="val 6669"/>
            </a:avLst>
          </a:prstGeom>
          <a:solidFill>
            <a:srgbClr val="E0E0EC"/>
          </a:solidFill>
          <a:ln/>
        </p:spPr>
      </p:sp>
      <p:sp>
        <p:nvSpPr>
          <p:cNvPr id="8" name="Text 6"/>
          <p:cNvSpPr/>
          <p:nvPr/>
        </p:nvSpPr>
        <p:spPr>
          <a:xfrm>
            <a:off x="5991720" y="1765647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1475" y="1787327"/>
            <a:ext cx="474035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Sprint 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1475" y="2065338"/>
            <a:ext cx="474035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Usuarios y Matrícula</a:t>
            </a: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Inicio de sesión, roles, registro de estudiantes y apoderados.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2915" y="2645271"/>
            <a:ext cx="416411" cy="19050"/>
          </a:xfrm>
          <a:prstGeom prst="roundRect">
            <a:avLst>
              <a:gd name="adj" fmla="val 49999"/>
            </a:avLst>
          </a:prstGeom>
          <a:solidFill>
            <a:srgbClr val="C6C6D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9731" y="2498725"/>
            <a:ext cx="312234" cy="312241"/>
          </a:xfrm>
          <a:prstGeom prst="roundRect">
            <a:avLst>
              <a:gd name="adj" fmla="val 6669"/>
            </a:avLst>
          </a:prstGeom>
          <a:solidFill>
            <a:srgbClr val="E0E0EC"/>
          </a:solidFill>
          <a:ln/>
        </p:spPr>
      </p:sp>
      <p:sp>
        <p:nvSpPr>
          <p:cNvPr id="13" name="Text 11"/>
          <p:cNvSpPr/>
          <p:nvPr/>
        </p:nvSpPr>
        <p:spPr>
          <a:xfrm>
            <a:off x="5991720" y="2524671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89865" y="2546350"/>
            <a:ext cx="474035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Sprint 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89865" y="2824361"/>
            <a:ext cx="474035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Evaluaciones CNEB</a:t>
            </a: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Registro y consulta de calificaciones con escala AD, A, B, C.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42370" y="3326209"/>
            <a:ext cx="416411" cy="19050"/>
          </a:xfrm>
          <a:prstGeom prst="roundRect">
            <a:avLst>
              <a:gd name="adj" fmla="val 49999"/>
            </a:avLst>
          </a:prstGeom>
          <a:solidFill>
            <a:srgbClr val="C6C6D2"/>
          </a:solidFill>
          <a:ln/>
        </p:spPr>
      </p:sp>
      <p:sp>
        <p:nvSpPr>
          <p:cNvPr id="17" name="Shape 15"/>
          <p:cNvSpPr/>
          <p:nvPr/>
        </p:nvSpPr>
        <p:spPr>
          <a:xfrm>
            <a:off x="5939731" y="3179663"/>
            <a:ext cx="312234" cy="312241"/>
          </a:xfrm>
          <a:prstGeom prst="roundRect">
            <a:avLst>
              <a:gd name="adj" fmla="val 6669"/>
            </a:avLst>
          </a:prstGeom>
          <a:solidFill>
            <a:srgbClr val="E0E0EC"/>
          </a:solidFill>
          <a:ln/>
        </p:spPr>
      </p:sp>
      <p:sp>
        <p:nvSpPr>
          <p:cNvPr id="18" name="Text 16"/>
          <p:cNvSpPr/>
          <p:nvPr/>
        </p:nvSpPr>
        <p:spPr>
          <a:xfrm>
            <a:off x="5991720" y="3205609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3227288"/>
            <a:ext cx="474035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Sprint 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475" y="3505299"/>
            <a:ext cx="474035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Asistencia</a:t>
            </a: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Control diario y alerta automática al superar el 30% de inasistencias.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2915" y="4007148"/>
            <a:ext cx="416411" cy="19050"/>
          </a:xfrm>
          <a:prstGeom prst="roundRect">
            <a:avLst>
              <a:gd name="adj" fmla="val 49999"/>
            </a:avLst>
          </a:prstGeom>
          <a:solidFill>
            <a:srgbClr val="C6C6D2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9731" y="3860602"/>
            <a:ext cx="312234" cy="312241"/>
          </a:xfrm>
          <a:prstGeom prst="roundRect">
            <a:avLst>
              <a:gd name="adj" fmla="val 6669"/>
            </a:avLst>
          </a:prstGeom>
          <a:solidFill>
            <a:srgbClr val="E0E0EC"/>
          </a:solidFill>
          <a:ln/>
        </p:spPr>
      </p:sp>
      <p:sp>
        <p:nvSpPr>
          <p:cNvPr id="23" name="Text 21"/>
          <p:cNvSpPr/>
          <p:nvPr/>
        </p:nvSpPr>
        <p:spPr>
          <a:xfrm>
            <a:off x="5991720" y="3886547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89865" y="3908227"/>
            <a:ext cx="474035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Sprint 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89865" y="4186237"/>
            <a:ext cx="474035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Reportes</a:t>
            </a: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Generación de libretas bimestrales y consultas por grado y sección.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42370" y="4688086"/>
            <a:ext cx="416411" cy="19050"/>
          </a:xfrm>
          <a:prstGeom prst="roundRect">
            <a:avLst>
              <a:gd name="adj" fmla="val 49999"/>
            </a:avLst>
          </a:prstGeom>
          <a:solidFill>
            <a:srgbClr val="C6C6D2"/>
          </a:solidFill>
          <a:ln/>
        </p:spPr>
      </p:sp>
      <p:sp>
        <p:nvSpPr>
          <p:cNvPr id="27" name="Shape 25"/>
          <p:cNvSpPr/>
          <p:nvPr/>
        </p:nvSpPr>
        <p:spPr>
          <a:xfrm>
            <a:off x="5939731" y="4541540"/>
            <a:ext cx="312234" cy="312241"/>
          </a:xfrm>
          <a:prstGeom prst="roundRect">
            <a:avLst>
              <a:gd name="adj" fmla="val 6669"/>
            </a:avLst>
          </a:prstGeom>
          <a:solidFill>
            <a:srgbClr val="E0E0EC"/>
          </a:solidFill>
          <a:ln/>
        </p:spPr>
      </p:sp>
      <p:sp>
        <p:nvSpPr>
          <p:cNvPr id="28" name="Text 26"/>
          <p:cNvSpPr/>
          <p:nvPr/>
        </p:nvSpPr>
        <p:spPr>
          <a:xfrm>
            <a:off x="5991720" y="4567486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1475" y="4589165"/>
            <a:ext cx="474035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Sprint 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1475" y="4867176"/>
            <a:ext cx="474035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Integración</a:t>
            </a: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Integración de módulos, pruebas completas y demostración al cliente.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1475" y="5814219"/>
            <a:ext cx="10868745" cy="455414"/>
          </a:xfrm>
          <a:prstGeom prst="roundRect">
            <a:avLst>
              <a:gd name="adj" fmla="val 4572"/>
            </a:avLst>
          </a:prstGeom>
          <a:solidFill>
            <a:srgbClr val="E3E3E8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78" y="5962551"/>
            <a:ext cx="173430" cy="138807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12512" y="5950744"/>
            <a:ext cx="1088848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finalizar los 5 sprints, el colegio dispondrá de un sistema integrado, funcional y adaptado al CNEB.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552</Words>
  <Application>Microsoft Office PowerPoint</Application>
  <PresentationFormat>Panorámica</PresentationFormat>
  <Paragraphs>93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Open Sans</vt:lpstr>
      <vt:lpstr>Playfair Display Bold</vt:lpstr>
      <vt:lpstr>Calibri</vt:lpstr>
      <vt:lpstr>Arial</vt:lpstr>
      <vt:lpstr>Open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APSTI-III M</cp:lastModifiedBy>
  <cp:revision>2</cp:revision>
  <dcterms:created xsi:type="dcterms:W3CDTF">2026-09-23T13:13:18Z</dcterms:created>
  <dcterms:modified xsi:type="dcterms:W3CDTF">2026-09-23T16:35:43Z</dcterms:modified>
</cp:coreProperties>
</file>